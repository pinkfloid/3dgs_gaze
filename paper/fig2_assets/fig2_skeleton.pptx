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960000" cy="5400000"/>
  <p:notesSz cx="5400000" cy="12960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jpg"/><Relationship Id="rId3" Type="http://schemas.openxmlformats.org/officeDocument/2006/relationships/image" Target="../media/image-1-3.jpg"/><Relationship Id="rId4" Type="http://schemas.openxmlformats.org/officeDocument/2006/relationships/image" Target="../media/image-1-4.jpg"/><Relationship Id="rId5" Type="http://schemas.openxmlformats.org/officeDocument/2006/relationships/image" Target="../media/image-1-5.jpg"/><Relationship Id="rId6" Type="http://schemas.openxmlformats.org/officeDocument/2006/relationships/image" Target="../media/image-1-6.png"/><Relationship Id="rId7" Type="http://schemas.openxmlformats.org/officeDocument/2006/relationships/image" Target="../media/image-1-7.jpg"/><Relationship Id="rId8" Type="http://schemas.openxmlformats.org/officeDocument/2006/relationships/image" Target="../media/image-1-8.jpg"/><Relationship Id="rId9" Type="http://schemas.openxmlformats.org/officeDocument/2006/relationships/image" Target="../media/image-1-9.png"/><Relationship Id="rId10" Type="http://schemas.openxmlformats.org/officeDocument/2006/relationships/image" Target="../media/image-1-10.jp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0000" y="108000"/>
            <a:ext cx="12600000" cy="1188000"/>
          </a:xfrm>
          <a:prstGeom prst="roundRect">
            <a:avLst>
              <a:gd name="adj" fmla="val 4618"/>
            </a:avLst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324000" y="151200"/>
            <a:ext cx="5040000" cy="19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Offline, once: mapping &amp; naming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78000" y="403200"/>
            <a:ext cx="2232000" cy="19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Phone capture</a:t>
            </a:r>
            <a:endParaRPr lang="en-US" sz="1250" dirty="0"/>
          </a:p>
        </p:txBody>
      </p:sp>
      <p:pic>
        <p:nvPicPr>
          <p:cNvPr id="5" name="Image 0" descr="E:/3dgs_gaze/paper/fig2_assets/offline_captur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74000" y="630000"/>
            <a:ext cx="1440000" cy="583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74000" y="630000"/>
            <a:ext cx="1440000" cy="583200"/>
          </a:xfrm>
          <a:prstGeom prst="roundRect">
            <a:avLst>
              <a:gd name="adj" fmla="val 3136"/>
            </a:avLst>
          </a:prstGeom>
          <a:solidFill>
            <a:srgbClr val="FFFFFF">
              <a:alpha val="0"/>
            </a:srgbClr>
          </a:solidFill>
          <a:ln w="9525">
            <a:solidFill>
              <a:srgbClr val="9CA3A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2871000" y="403200"/>
            <a:ext cx="2232000" cy="19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COLMAP + board alignment</a:t>
            </a:r>
            <a:endParaRPr lang="en-US" sz="1250" dirty="0"/>
          </a:p>
        </p:txBody>
      </p:sp>
      <p:pic>
        <p:nvPicPr>
          <p:cNvPr id="8" name="Image 1" descr="E:/3dgs_gaze/paper/fig2_assets/offline_colmap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267000" y="630000"/>
            <a:ext cx="1440000" cy="58320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3267000" y="630000"/>
            <a:ext cx="1440000" cy="583200"/>
          </a:xfrm>
          <a:prstGeom prst="roundRect">
            <a:avLst>
              <a:gd name="adj" fmla="val 3136"/>
            </a:avLst>
          </a:prstGeom>
          <a:solidFill>
            <a:srgbClr val="FFFFFF">
              <a:alpha val="0"/>
            </a:srgbClr>
          </a:solidFill>
          <a:ln w="9525">
            <a:solidFill>
              <a:srgbClr val="9CA3AF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5364000" y="403200"/>
            <a:ext cx="2232000" cy="19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3DGS training (board frame)</a:t>
            </a:r>
            <a:endParaRPr lang="en-US" sz="1250" dirty="0"/>
          </a:p>
        </p:txBody>
      </p:sp>
      <p:pic>
        <p:nvPicPr>
          <p:cNvPr id="11" name="Image 2" descr="E:/3dgs_gaze/paper/fig2_assets/offline_3dgs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760000" y="630000"/>
            <a:ext cx="1440000" cy="5832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5760000" y="630000"/>
            <a:ext cx="1440000" cy="583200"/>
          </a:xfrm>
          <a:prstGeom prst="roundRect">
            <a:avLst>
              <a:gd name="adj" fmla="val 3136"/>
            </a:avLst>
          </a:prstGeom>
          <a:solidFill>
            <a:srgbClr val="FFFFFF">
              <a:alpha val="0"/>
            </a:srgbClr>
          </a:solidFill>
          <a:ln w="9525">
            <a:solidFill>
              <a:srgbClr val="9CA3AF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7857000" y="403200"/>
            <a:ext cx="2232000" cy="19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 → instances</a:t>
            </a:r>
            <a:endParaRPr lang="en-US" sz="1250" dirty="0"/>
          </a:p>
        </p:txBody>
      </p:sp>
      <p:pic>
        <p:nvPicPr>
          <p:cNvPr id="14" name="Image 3" descr="E:/3dgs_gaze/paper/fig2_assets/offline_sam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8253000" y="630000"/>
            <a:ext cx="1440000" cy="583200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8253000" y="630000"/>
            <a:ext cx="1440000" cy="583200"/>
          </a:xfrm>
          <a:prstGeom prst="roundRect">
            <a:avLst>
              <a:gd name="adj" fmla="val 3136"/>
            </a:avLst>
          </a:prstGeom>
          <a:solidFill>
            <a:srgbClr val="FFFFFF">
              <a:alpha val="0"/>
            </a:srgbClr>
          </a:solidFill>
          <a:ln w="9525">
            <a:solidFill>
              <a:srgbClr val="9CA3AF"/>
            </a:solidFill>
            <a:prstDash val="solid"/>
          </a:ln>
        </p:spPr>
      </p:sp>
      <p:sp>
        <p:nvSpPr>
          <p:cNvPr id="16" name="Text 10"/>
          <p:cNvSpPr/>
          <p:nvPr/>
        </p:nvSpPr>
        <p:spPr>
          <a:xfrm>
            <a:off x="10350000" y="403200"/>
            <a:ext cx="2232000" cy="19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Named registry</a:t>
            </a:r>
            <a:endParaRPr lang="en-US" sz="1250" dirty="0"/>
          </a:p>
        </p:txBody>
      </p:sp>
      <p:sp>
        <p:nvSpPr>
          <p:cNvPr id="17" name="Text 11"/>
          <p:cNvSpPr/>
          <p:nvPr/>
        </p:nvSpPr>
        <p:spPr>
          <a:xfrm>
            <a:off x="10476000" y="619200"/>
            <a:ext cx="1980000" cy="612000"/>
          </a:xfrm>
          <a:prstGeom prst="roundRect">
            <a:avLst>
              <a:gd name="adj" fmla="val 5976"/>
            </a:avLst>
          </a:prstGeom>
          <a:solidFill>
            <a:srgbClr val="F9FAFB"/>
          </a:solidFill>
          <a:ln w="9525">
            <a:solidFill>
              <a:srgbClr val="9CA3AF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259 instances · 15 named</a:t>
            </a:r>
            <a:endParaRPr lang="en-US" sz="10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ball_L · ball_M · ball_R</a:t>
            </a:r>
            <a:endParaRPr lang="en-US" sz="10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 ×2 · cup ×3 · banana</a:t>
            </a:r>
            <a:endParaRPr lang="en-US" sz="10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orange · bottle · box ×2 · cart</a:t>
            </a:r>
            <a:endParaRPr 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2610000" y="882000"/>
            <a:ext cx="261000" cy="0"/>
          </a:xfrm>
          <a:prstGeom prst="line">
            <a:avLst/>
          </a:prstGeom>
          <a:noFill/>
          <a:ln w="2540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9" name="Shape 13"/>
          <p:cNvSpPr/>
          <p:nvPr/>
        </p:nvSpPr>
        <p:spPr>
          <a:xfrm>
            <a:off x="5103000" y="882000"/>
            <a:ext cx="261000" cy="0"/>
          </a:xfrm>
          <a:prstGeom prst="line">
            <a:avLst/>
          </a:prstGeom>
          <a:noFill/>
          <a:ln w="2540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20" name="Shape 14"/>
          <p:cNvSpPr/>
          <p:nvPr/>
        </p:nvSpPr>
        <p:spPr>
          <a:xfrm>
            <a:off x="7596000" y="882000"/>
            <a:ext cx="261000" cy="0"/>
          </a:xfrm>
          <a:prstGeom prst="line">
            <a:avLst/>
          </a:prstGeom>
          <a:noFill/>
          <a:ln w="2540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21" name="Shape 15"/>
          <p:cNvSpPr/>
          <p:nvPr/>
        </p:nvSpPr>
        <p:spPr>
          <a:xfrm>
            <a:off x="10089000" y="882000"/>
            <a:ext cx="261000" cy="0"/>
          </a:xfrm>
          <a:prstGeom prst="line">
            <a:avLst/>
          </a:prstGeom>
          <a:noFill/>
          <a:ln w="2540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22" name="Text 16"/>
          <p:cNvSpPr/>
          <p:nvPr/>
        </p:nvSpPr>
        <p:spPr>
          <a:xfrm>
            <a:off x="180000" y="1422000"/>
            <a:ext cx="3096000" cy="1044000"/>
          </a:xfrm>
          <a:prstGeom prst="roundRect">
            <a:avLst>
              <a:gd name="adj" fmla="val 5255"/>
            </a:avLst>
          </a:prstGeom>
          <a:solidFill>
            <a:srgbClr val="FDF0DD"/>
          </a:solidFill>
          <a:ln w="19050">
            <a:solidFill>
              <a:srgbClr val="D97706"/>
            </a:solidFill>
          </a:ln>
        </p:spPr>
        <p:txBody>
          <a:bodyPr wrap="square" lIns="76200" tIns="76200" rIns="76200" bIns="7620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Wearer localization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A162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fisheye ArUco PnP vs. wall tags</a:t>
            </a:r>
            <a:endParaRPr lang="en-US" sz="1500" dirty="0"/>
          </a:p>
        </p:txBody>
      </p:sp>
      <p:pic>
        <p:nvPicPr>
          <p:cNvPr id="23" name="Image 4" descr="E:/3dgs_gaze/paper/fig2_assets/wearer_pnp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306000" y="1944000"/>
            <a:ext cx="2844000" cy="468000"/>
          </a:xfrm>
          <a:prstGeom prst="rect">
            <a:avLst/>
          </a:prstGeom>
        </p:spPr>
      </p:pic>
      <p:sp>
        <p:nvSpPr>
          <p:cNvPr id="24" name="Shape 17"/>
          <p:cNvSpPr/>
          <p:nvPr/>
        </p:nvSpPr>
        <p:spPr>
          <a:xfrm>
            <a:off x="306000" y="1944000"/>
            <a:ext cx="2844000" cy="468000"/>
          </a:xfrm>
          <a:prstGeom prst="roundRect">
            <a:avLst>
              <a:gd name="adj" fmla="val 3908"/>
            </a:avLst>
          </a:prstGeom>
          <a:solidFill>
            <a:srgbClr val="FFFFFF">
              <a:alpha val="0"/>
            </a:srgbClr>
          </a:solidFill>
          <a:ln w="9525">
            <a:solidFill>
              <a:srgbClr val="9CA3AF"/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180000" y="2628000"/>
            <a:ext cx="3096000" cy="1044000"/>
          </a:xfrm>
          <a:prstGeom prst="roundRect">
            <a:avLst>
              <a:gd name="adj" fmla="val 5255"/>
            </a:avLst>
          </a:prstGeom>
          <a:solidFill>
            <a:srgbClr val="FDF0DD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270000" y="2682000"/>
            <a:ext cx="1332000" cy="93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World-frame fixation clustering</a:t>
            </a:r>
            <a:endParaRPr lang="en-US" sz="140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A162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stable while walking</a:t>
            </a:r>
            <a:endParaRPr lang="en-US" sz="1400" dirty="0"/>
          </a:p>
        </p:txBody>
      </p:sp>
      <p:pic>
        <p:nvPicPr>
          <p:cNvPr id="27" name="Image 5" descr="E:/3dgs_gaze/paper/fig2_assets/wearer_cluster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1638000" y="2700000"/>
            <a:ext cx="1404000" cy="90000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3564000" y="1422000"/>
            <a:ext cx="5544000" cy="2250000"/>
          </a:xfrm>
          <a:prstGeom prst="roundRect">
            <a:avLst>
              <a:gd name="adj" fmla="val 2438"/>
            </a:avLst>
          </a:prstGeom>
          <a:solidFill>
            <a:srgbClr val="E0F0EE"/>
          </a:solidFill>
          <a:ln w="19050">
            <a:solidFill>
              <a:srgbClr val="0F766E"/>
            </a:solidFill>
          </a:ln>
        </p:spPr>
        <p:txBody>
          <a:bodyPr wrap="square" lIns="76200" tIns="76200" rIns="76200" bIns="7620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15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3DGS instance map</a:t>
            </a:r>
            <a:endParaRPr lang="en-US" sz="170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metric frame for human &amp; robot</a:t>
            </a:r>
            <a:endParaRPr lang="en-US" sz="1700" dirty="0"/>
          </a:p>
        </p:txBody>
      </p:sp>
      <p:pic>
        <p:nvPicPr>
          <p:cNvPr id="29" name="Image 6" descr="E:/3dgs_gaze/paper/fig2_assets/hub_map.jp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3780000" y="2034000"/>
            <a:ext cx="5112000" cy="1530000"/>
          </a:xfrm>
          <a:prstGeom prst="rect">
            <a:avLst/>
          </a:prstGeom>
        </p:spPr>
      </p:pic>
      <p:sp>
        <p:nvSpPr>
          <p:cNvPr id="30" name="Shape 21"/>
          <p:cNvSpPr/>
          <p:nvPr/>
        </p:nvSpPr>
        <p:spPr>
          <a:xfrm>
            <a:off x="3780000" y="2034000"/>
            <a:ext cx="5112000" cy="1530000"/>
          </a:xfrm>
          <a:prstGeom prst="roundRect">
            <a:avLst>
              <a:gd name="adj" fmla="val 1195"/>
            </a:avLst>
          </a:prstGeom>
          <a:solidFill>
            <a:srgbClr val="FFFFFF">
              <a:alpha val="0"/>
            </a:srgbClr>
          </a:solidFill>
          <a:ln w="9525">
            <a:solidFill>
              <a:srgbClr val="9CA3AF"/>
            </a:solidFill>
            <a:prstDash val="solid"/>
          </a:ln>
        </p:spPr>
      </p:sp>
      <p:sp>
        <p:nvSpPr>
          <p:cNvPr id="31" name="Text 22"/>
          <p:cNvSpPr/>
          <p:nvPr/>
        </p:nvSpPr>
        <p:spPr>
          <a:xfrm>
            <a:off x="9396000" y="1422000"/>
            <a:ext cx="3384000" cy="1044000"/>
          </a:xfrm>
          <a:prstGeom prst="roundRect">
            <a:avLst>
              <a:gd name="adj" fmla="val 5255"/>
            </a:avLst>
          </a:prstGeom>
          <a:solidFill>
            <a:srgbClr val="E7EEF9"/>
          </a:solidFill>
          <a:ln w="19050">
            <a:solidFill>
              <a:srgbClr val="1D4ED8"/>
            </a:solidFill>
          </a:ln>
        </p:spPr>
        <p:txBody>
          <a:bodyPr wrap="square" lIns="76200" tIns="76200" rIns="76200" bIns="7620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Robot localization &amp; navigation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surveyed tags</a:t>
            </a:r>
            <a:endParaRPr lang="en-US" sz="1500" dirty="0"/>
          </a:p>
        </p:txBody>
      </p:sp>
      <p:pic>
        <p:nvPicPr>
          <p:cNvPr id="32" name="Image 7" descr="E:/3dgs_gaze/paper/fig2_assets/robot_nav.jp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9522000" y="1944000"/>
            <a:ext cx="3132000" cy="468000"/>
          </a:xfrm>
          <a:prstGeom prst="rect">
            <a:avLst/>
          </a:prstGeom>
        </p:spPr>
      </p:pic>
      <p:sp>
        <p:nvSpPr>
          <p:cNvPr id="33" name="Shape 23"/>
          <p:cNvSpPr/>
          <p:nvPr/>
        </p:nvSpPr>
        <p:spPr>
          <a:xfrm>
            <a:off x="9522000" y="1944000"/>
            <a:ext cx="3132000" cy="468000"/>
          </a:xfrm>
          <a:prstGeom prst="roundRect">
            <a:avLst>
              <a:gd name="adj" fmla="val 3908"/>
            </a:avLst>
          </a:prstGeom>
          <a:solidFill>
            <a:srgbClr val="FFFFFF">
              <a:alpha val="0"/>
            </a:srgbClr>
          </a:solidFill>
          <a:ln w="9525">
            <a:solidFill>
              <a:srgbClr val="9CA3AF"/>
            </a:solidFill>
            <a:prstDash val="solid"/>
          </a:ln>
        </p:spPr>
      </p:sp>
      <p:sp>
        <p:nvSpPr>
          <p:cNvPr id="34" name="Text 24"/>
          <p:cNvSpPr/>
          <p:nvPr/>
        </p:nvSpPr>
        <p:spPr>
          <a:xfrm>
            <a:off x="9396000" y="2628000"/>
            <a:ext cx="3384000" cy="1044000"/>
          </a:xfrm>
          <a:prstGeom prst="roundRect">
            <a:avLst>
              <a:gd name="adj" fmla="val 5255"/>
            </a:avLst>
          </a:prstGeom>
          <a:solidFill>
            <a:srgbClr val="E7EEF9"/>
          </a:solidFill>
          <a:ln w="19050">
            <a:solidFill>
              <a:srgbClr val="1D4ED8"/>
            </a:solidFill>
          </a:ln>
        </p:spPr>
        <p:txBody>
          <a:bodyPr wrap="square" lIns="76200" tIns="76200" rIns="76200" bIns="7620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Last-meter disambiguation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hint projected into grasp camera</a:t>
            </a:r>
            <a:endParaRPr lang="en-US" sz="1500" dirty="0"/>
          </a:p>
        </p:txBody>
      </p:sp>
      <p:sp>
        <p:nvSpPr>
          <p:cNvPr id="35" name="Text 25"/>
          <p:cNvSpPr/>
          <p:nvPr/>
        </p:nvSpPr>
        <p:spPr>
          <a:xfrm>
            <a:off x="9522000" y="3150000"/>
            <a:ext cx="3132000" cy="468000"/>
          </a:xfrm>
          <a:prstGeom prst="roundRect">
            <a:avLst>
              <a:gd name="adj" fmla="val 7815"/>
            </a:avLst>
          </a:prstGeom>
          <a:solidFill>
            <a:srgbClr val="F3F4F6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lastmeter.jpg — projected point inside chosen box</a:t>
            </a:r>
            <a:endParaRPr lang="en-US" sz="1100" dirty="0"/>
          </a:p>
        </p:txBody>
      </p:sp>
      <p:sp>
        <p:nvSpPr>
          <p:cNvPr id="36" name="Shape 26"/>
          <p:cNvSpPr/>
          <p:nvPr/>
        </p:nvSpPr>
        <p:spPr>
          <a:xfrm>
            <a:off x="6336000" y="1296000"/>
            <a:ext cx="0" cy="126000"/>
          </a:xfrm>
          <a:prstGeom prst="line">
            <a:avLst/>
          </a:prstGeom>
          <a:noFill/>
          <a:ln w="2540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37" name="Shape 27"/>
          <p:cNvSpPr/>
          <p:nvPr/>
        </p:nvSpPr>
        <p:spPr>
          <a:xfrm>
            <a:off x="1728000" y="2466000"/>
            <a:ext cx="0" cy="162000"/>
          </a:xfrm>
          <a:prstGeom prst="line">
            <a:avLst/>
          </a:prstGeom>
          <a:noFill/>
          <a:ln w="25400">
            <a:solidFill>
              <a:srgbClr val="D97706"/>
            </a:solidFill>
            <a:prstDash val="solid"/>
            <a:tailEnd type="triangle"/>
          </a:ln>
        </p:spPr>
      </p:sp>
      <p:sp>
        <p:nvSpPr>
          <p:cNvPr id="38" name="Shape 28"/>
          <p:cNvSpPr/>
          <p:nvPr/>
        </p:nvSpPr>
        <p:spPr>
          <a:xfrm>
            <a:off x="3276000" y="3150000"/>
            <a:ext cx="288000" cy="0"/>
          </a:xfrm>
          <a:prstGeom prst="line">
            <a:avLst/>
          </a:prstGeom>
          <a:noFill/>
          <a:ln w="25400">
            <a:solidFill>
              <a:srgbClr val="D97706"/>
            </a:solidFill>
            <a:prstDash val="solid"/>
            <a:tailEnd type="triangle"/>
          </a:ln>
        </p:spPr>
      </p:sp>
      <p:sp>
        <p:nvSpPr>
          <p:cNvPr id="39" name="Shape 29"/>
          <p:cNvSpPr/>
          <p:nvPr/>
        </p:nvSpPr>
        <p:spPr>
          <a:xfrm>
            <a:off x="9108000" y="1944000"/>
            <a:ext cx="288000" cy="0"/>
          </a:xfrm>
          <a:prstGeom prst="line">
            <a:avLst/>
          </a:prstGeom>
          <a:noFill/>
          <a:ln w="25400">
            <a:solidFill>
              <a:srgbClr val="1D4ED8"/>
            </a:solidFill>
            <a:prstDash val="solid"/>
            <a:tailEnd type="triangle"/>
          </a:ln>
        </p:spPr>
      </p:sp>
      <p:sp>
        <p:nvSpPr>
          <p:cNvPr id="40" name="Shape 30"/>
          <p:cNvSpPr/>
          <p:nvPr/>
        </p:nvSpPr>
        <p:spPr>
          <a:xfrm>
            <a:off x="11088000" y="2466000"/>
            <a:ext cx="0" cy="162000"/>
          </a:xfrm>
          <a:prstGeom prst="line">
            <a:avLst/>
          </a:prstGeom>
          <a:noFill/>
          <a:ln w="25400">
            <a:solidFill>
              <a:srgbClr val="1D4ED8"/>
            </a:solidFill>
            <a:prstDash val="solid"/>
            <a:tailEnd type="triangle"/>
          </a:ln>
        </p:spPr>
      </p:sp>
      <p:sp>
        <p:nvSpPr>
          <p:cNvPr id="41" name="Text 31"/>
          <p:cNvSpPr/>
          <p:nvPr/>
        </p:nvSpPr>
        <p:spPr>
          <a:xfrm>
            <a:off x="180000" y="3870000"/>
            <a:ext cx="2340000" cy="936000"/>
          </a:xfrm>
          <a:prstGeom prst="roundRect">
            <a:avLst>
              <a:gd name="adj" fmla="val 5862"/>
            </a:avLst>
          </a:prstGeom>
          <a:solidFill>
            <a:srgbClr val="E9F4EC"/>
          </a:solidFill>
          <a:ln w="19050">
            <a:solidFill>
              <a:srgbClr val="15803D"/>
            </a:solidFill>
          </a:ln>
        </p:spPr>
        <p:txBody>
          <a:bodyPr wrap="square" lIns="76200" tIns="76200" rIns="76200" bIns="7620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5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Continuous ASR</a:t>
            </a:r>
            <a:endParaRPr lang="en-US" sz="14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mic + energy gate</a:t>
            </a:r>
            <a:endParaRPr lang="en-US" sz="1400" dirty="0"/>
          </a:p>
        </p:txBody>
      </p:sp>
      <p:pic>
        <p:nvPicPr>
          <p:cNvPr id="42" name="Image 8" descr="E:/3dgs_gaze/paper/fig2_assets/speech_wave.png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306000" y="4374000"/>
            <a:ext cx="2088000" cy="378000"/>
          </a:xfrm>
          <a:prstGeom prst="rect">
            <a:avLst/>
          </a:prstGeom>
        </p:spPr>
      </p:pic>
      <p:sp>
        <p:nvSpPr>
          <p:cNvPr id="43" name="Text 32"/>
          <p:cNvSpPr/>
          <p:nvPr/>
        </p:nvSpPr>
        <p:spPr>
          <a:xfrm>
            <a:off x="2745000" y="3870000"/>
            <a:ext cx="2340000" cy="936000"/>
          </a:xfrm>
          <a:prstGeom prst="roundRect">
            <a:avLst>
              <a:gd name="adj" fmla="val 5862"/>
            </a:avLst>
          </a:prstGeom>
          <a:solidFill>
            <a:srgbClr val="E9F4EC"/>
          </a:solidFill>
          <a:ln w="19050">
            <a:solidFill>
              <a:srgbClr val="15803D"/>
            </a:solidFill>
          </a:ln>
        </p:spPr>
        <p:txBody>
          <a:bodyPr wrap="square" lIns="76200" tIns="76200" rIns="76200" bIns="7620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5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slot parsing</a:t>
            </a:r>
            <a:endParaRPr lang="en-US" sz="14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+ 3 reference slots</a:t>
            </a:r>
            <a:endParaRPr lang="en-US" sz="1400" dirty="0"/>
          </a:p>
        </p:txBody>
      </p:sp>
      <p:sp>
        <p:nvSpPr>
          <p:cNvPr id="44" name="Text 33"/>
          <p:cNvSpPr/>
          <p:nvPr/>
        </p:nvSpPr>
        <p:spPr>
          <a:xfrm>
            <a:off x="2853000" y="4320000"/>
            <a:ext cx="2124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“Bring me that ball.”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580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fetch(object = &lt;that&gt;)</a:t>
            </a:r>
            <a:endParaRPr lang="en-US" sz="1100" dirty="0"/>
          </a:p>
        </p:txBody>
      </p:sp>
      <p:sp>
        <p:nvSpPr>
          <p:cNvPr id="45" name="Text 34"/>
          <p:cNvSpPr/>
          <p:nvPr/>
        </p:nvSpPr>
        <p:spPr>
          <a:xfrm>
            <a:off x="5310000" y="3870000"/>
            <a:ext cx="2340000" cy="936000"/>
          </a:xfrm>
          <a:prstGeom prst="roundRect">
            <a:avLst>
              <a:gd name="adj" fmla="val 5862"/>
            </a:avLst>
          </a:prstGeom>
          <a:solidFill>
            <a:srgbClr val="E9F4EC"/>
          </a:solidFill>
          <a:ln w="19050">
            <a:solidFill>
              <a:srgbClr val="15803D"/>
            </a:solidFill>
          </a:ln>
        </p:spPr>
        <p:txBody>
          <a:bodyPr wrap="square" lIns="76200" tIns="76200" rIns="76200" bIns="7620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5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Eye–voice binding</a:t>
            </a:r>
            <a:endParaRPr lang="en-US" sz="14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-4 s … +0.5 s window</a:t>
            </a:r>
            <a:endParaRPr lang="en-US" sz="1400" dirty="0"/>
          </a:p>
        </p:txBody>
      </p:sp>
      <p:sp>
        <p:nvSpPr>
          <p:cNvPr id="46" name="Text 35"/>
          <p:cNvSpPr/>
          <p:nvPr/>
        </p:nvSpPr>
        <p:spPr>
          <a:xfrm>
            <a:off x="5418000" y="4320000"/>
            <a:ext cx="2124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80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&lt;that&gt; -&gt; ball_2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(draw fixation timeline here)</a:t>
            </a:r>
            <a:endParaRPr lang="en-US" sz="1200" dirty="0"/>
          </a:p>
        </p:txBody>
      </p:sp>
      <p:sp>
        <p:nvSpPr>
          <p:cNvPr id="47" name="Text 36"/>
          <p:cNvSpPr/>
          <p:nvPr/>
        </p:nvSpPr>
        <p:spPr>
          <a:xfrm>
            <a:off x="7875000" y="3870000"/>
            <a:ext cx="2340000" cy="936000"/>
          </a:xfrm>
          <a:prstGeom prst="roundRect">
            <a:avLst>
              <a:gd name="adj" fmla="val 5862"/>
            </a:avLst>
          </a:prstGeom>
          <a:solidFill>
            <a:srgbClr val="E9F4EC"/>
          </a:solidFill>
          <a:ln w="19050">
            <a:solidFill>
              <a:srgbClr val="15803D"/>
            </a:solidFill>
          </a:ln>
        </p:spPr>
        <p:txBody>
          <a:bodyPr wrap="square" lIns="76200" tIns="76200" rIns="76200" bIns="7620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5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Confirm, then dispatch</a:t>
            </a:r>
            <a:endParaRPr lang="en-US" sz="14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refuse rather than guess</a:t>
            </a:r>
            <a:endParaRPr lang="en-US" sz="1400" dirty="0"/>
          </a:p>
        </p:txBody>
      </p:sp>
      <p:sp>
        <p:nvSpPr>
          <p:cNvPr id="48" name="Text 37"/>
          <p:cNvSpPr/>
          <p:nvPr/>
        </p:nvSpPr>
        <p:spPr>
          <a:xfrm>
            <a:off x="7983000" y="4320000"/>
            <a:ext cx="2124000" cy="46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target: p_obj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approach: d_app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580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object_hint: c(ball_2)</a:t>
            </a:r>
            <a:endParaRPr lang="en-US" sz="1000" dirty="0"/>
          </a:p>
        </p:txBody>
      </p:sp>
      <p:sp>
        <p:nvSpPr>
          <p:cNvPr id="49" name="Text 38"/>
          <p:cNvSpPr/>
          <p:nvPr/>
        </p:nvSpPr>
        <p:spPr>
          <a:xfrm>
            <a:off x="10440000" y="3870000"/>
            <a:ext cx="2340000" cy="936000"/>
          </a:xfrm>
          <a:prstGeom prst="roundRect">
            <a:avLst>
              <a:gd name="adj" fmla="val 5862"/>
            </a:avLst>
          </a:prstGeom>
          <a:solidFill>
            <a:srgbClr val="E7EEF9"/>
          </a:solidFill>
          <a:ln w="19050">
            <a:solidFill>
              <a:srgbClr val="1D4ED8"/>
            </a:solidFill>
          </a:ln>
        </p:spPr>
        <p:txBody>
          <a:bodyPr wrap="square" lIns="76200" tIns="76200" rIns="76200" bIns="7620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Fetch &amp; delivery</a:t>
            </a:r>
            <a:endParaRPr lang="en-US" sz="14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grasp + hand-over</a:t>
            </a:r>
            <a:endParaRPr lang="en-US" sz="1400" dirty="0"/>
          </a:p>
        </p:txBody>
      </p:sp>
      <p:pic>
        <p:nvPicPr>
          <p:cNvPr id="50" name="Image 9" descr="E:/3dgs_gaze/paper/fig2_assets/delivery.jpg">    </p:cNvPr>
          <p:cNvPicPr>
            <a:picLocks noChangeAspect="1"/>
          </p:cNvPicPr>
          <p:nvPr/>
        </p:nvPicPr>
        <p:blipFill>
          <a:blip r:embed="rId10"/>
          <a:srcRect l="0" r="0" t="0" b="0"/>
          <a:stretch/>
        </p:blipFill>
        <p:spPr>
          <a:xfrm>
            <a:off x="10566000" y="4374000"/>
            <a:ext cx="2088000" cy="378000"/>
          </a:xfrm>
          <a:prstGeom prst="rect">
            <a:avLst/>
          </a:prstGeom>
        </p:spPr>
      </p:pic>
      <p:sp>
        <p:nvSpPr>
          <p:cNvPr id="51" name="Shape 39"/>
          <p:cNvSpPr/>
          <p:nvPr/>
        </p:nvSpPr>
        <p:spPr>
          <a:xfrm>
            <a:off x="10566000" y="4374000"/>
            <a:ext cx="2088000" cy="378000"/>
          </a:xfrm>
          <a:prstGeom prst="roundRect">
            <a:avLst>
              <a:gd name="adj" fmla="val 4838"/>
            </a:avLst>
          </a:prstGeom>
          <a:solidFill>
            <a:srgbClr val="FFFFFF">
              <a:alpha val="0"/>
            </a:srgbClr>
          </a:solidFill>
          <a:ln w="9525">
            <a:solidFill>
              <a:srgbClr val="9CA3AF"/>
            </a:solidFill>
            <a:prstDash val="solid"/>
          </a:ln>
        </p:spPr>
      </p:sp>
      <p:sp>
        <p:nvSpPr>
          <p:cNvPr id="52" name="Shape 40"/>
          <p:cNvSpPr/>
          <p:nvPr/>
        </p:nvSpPr>
        <p:spPr>
          <a:xfrm>
            <a:off x="2520000" y="4338000"/>
            <a:ext cx="225000" cy="0"/>
          </a:xfrm>
          <a:prstGeom prst="line">
            <a:avLst/>
          </a:prstGeom>
          <a:noFill/>
          <a:ln w="25400">
            <a:solidFill>
              <a:srgbClr val="15803D"/>
            </a:solidFill>
            <a:prstDash val="solid"/>
            <a:tailEnd type="triangle"/>
          </a:ln>
        </p:spPr>
      </p:sp>
      <p:sp>
        <p:nvSpPr>
          <p:cNvPr id="53" name="Shape 41"/>
          <p:cNvSpPr/>
          <p:nvPr/>
        </p:nvSpPr>
        <p:spPr>
          <a:xfrm>
            <a:off x="5085000" y="4338000"/>
            <a:ext cx="225000" cy="0"/>
          </a:xfrm>
          <a:prstGeom prst="line">
            <a:avLst/>
          </a:prstGeom>
          <a:noFill/>
          <a:ln w="25400">
            <a:solidFill>
              <a:srgbClr val="15803D"/>
            </a:solidFill>
            <a:prstDash val="solid"/>
            <a:tailEnd type="triangle"/>
          </a:ln>
        </p:spPr>
      </p:sp>
      <p:sp>
        <p:nvSpPr>
          <p:cNvPr id="54" name="Shape 42"/>
          <p:cNvSpPr/>
          <p:nvPr/>
        </p:nvSpPr>
        <p:spPr>
          <a:xfrm>
            <a:off x="7650000" y="4338000"/>
            <a:ext cx="225000" cy="0"/>
          </a:xfrm>
          <a:prstGeom prst="line">
            <a:avLst/>
          </a:prstGeom>
          <a:noFill/>
          <a:ln w="25400">
            <a:solidFill>
              <a:srgbClr val="15803D"/>
            </a:solidFill>
            <a:prstDash val="solid"/>
            <a:tailEnd type="triangle"/>
          </a:ln>
        </p:spPr>
      </p:sp>
      <p:sp>
        <p:nvSpPr>
          <p:cNvPr id="55" name="Shape 43"/>
          <p:cNvSpPr/>
          <p:nvPr/>
        </p:nvSpPr>
        <p:spPr>
          <a:xfrm>
            <a:off x="10215000" y="4338000"/>
            <a:ext cx="225000" cy="0"/>
          </a:xfrm>
          <a:prstGeom prst="line">
            <a:avLst/>
          </a:prstGeom>
          <a:noFill/>
          <a:ln w="25400">
            <a:solidFill>
              <a:srgbClr val="1D4ED8"/>
            </a:solidFill>
            <a:prstDash val="solid"/>
            <a:tailEnd type="triangle"/>
          </a:ln>
        </p:spPr>
      </p:sp>
      <p:sp>
        <p:nvSpPr>
          <p:cNvPr id="56" name="Shape 44"/>
          <p:cNvSpPr/>
          <p:nvPr/>
        </p:nvSpPr>
        <p:spPr>
          <a:xfrm>
            <a:off x="6336000" y="3672000"/>
            <a:ext cx="0" cy="198000"/>
          </a:xfrm>
          <a:prstGeom prst="line">
            <a:avLst/>
          </a:prstGeom>
          <a:noFill/>
          <a:ln w="25400">
            <a:solidFill>
              <a:srgbClr val="D97706"/>
            </a:solidFill>
            <a:prstDash val="solid"/>
            <a:tailEnd type="triangle"/>
          </a:ln>
        </p:spPr>
      </p:sp>
      <p:sp>
        <p:nvSpPr>
          <p:cNvPr id="57" name="Shape 45"/>
          <p:cNvSpPr/>
          <p:nvPr/>
        </p:nvSpPr>
        <p:spPr>
          <a:xfrm>
            <a:off x="180000" y="4986000"/>
            <a:ext cx="144000" cy="144000"/>
          </a:xfrm>
          <a:prstGeom prst="roundRect">
            <a:avLst>
              <a:gd name="adj" fmla="val 12700"/>
            </a:avLst>
          </a:prstGeom>
          <a:solidFill>
            <a:srgbClr val="D97706"/>
          </a:solidFill>
          <a:ln w="6350">
            <a:solidFill>
              <a:srgbClr val="D97706"/>
            </a:solidFill>
            <a:prstDash val="solid"/>
          </a:ln>
        </p:spPr>
      </p:sp>
      <p:sp>
        <p:nvSpPr>
          <p:cNvPr id="58" name="Text 46"/>
          <p:cNvSpPr/>
          <p:nvPr/>
        </p:nvSpPr>
        <p:spPr>
          <a:xfrm>
            <a:off x="378000" y="4950000"/>
            <a:ext cx="1584000" cy="2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gaze channel</a:t>
            </a:r>
            <a:endParaRPr lang="en-US" sz="1100" dirty="0"/>
          </a:p>
        </p:txBody>
      </p:sp>
      <p:sp>
        <p:nvSpPr>
          <p:cNvPr id="59" name="Shape 47"/>
          <p:cNvSpPr/>
          <p:nvPr/>
        </p:nvSpPr>
        <p:spPr>
          <a:xfrm>
            <a:off x="1980000" y="4986000"/>
            <a:ext cx="144000" cy="144000"/>
          </a:xfrm>
          <a:prstGeom prst="roundRect">
            <a:avLst>
              <a:gd name="adj" fmla="val 12700"/>
            </a:avLst>
          </a:prstGeom>
          <a:solidFill>
            <a:srgbClr val="15803D"/>
          </a:solidFill>
          <a:ln w="6350">
            <a:solidFill>
              <a:srgbClr val="15803D"/>
            </a:solidFill>
            <a:prstDash val="solid"/>
          </a:ln>
        </p:spPr>
      </p:sp>
      <p:sp>
        <p:nvSpPr>
          <p:cNvPr id="60" name="Text 48"/>
          <p:cNvSpPr/>
          <p:nvPr/>
        </p:nvSpPr>
        <p:spPr>
          <a:xfrm>
            <a:off x="2178000" y="4950000"/>
            <a:ext cx="1584000" cy="2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speech channel</a:t>
            </a:r>
            <a:endParaRPr lang="en-US" sz="1100" dirty="0"/>
          </a:p>
        </p:txBody>
      </p:sp>
      <p:sp>
        <p:nvSpPr>
          <p:cNvPr id="61" name="Shape 49"/>
          <p:cNvSpPr/>
          <p:nvPr/>
        </p:nvSpPr>
        <p:spPr>
          <a:xfrm>
            <a:off x="3960000" y="4986000"/>
            <a:ext cx="144000" cy="144000"/>
          </a:xfrm>
          <a:prstGeom prst="roundRect">
            <a:avLst>
              <a:gd name="adj" fmla="val 12700"/>
            </a:avLst>
          </a:prstGeom>
          <a:solidFill>
            <a:srgbClr val="0F766E"/>
          </a:solidFill>
          <a:ln w="6350">
            <a:solidFill>
              <a:srgbClr val="0F766E"/>
            </a:solidFill>
            <a:prstDash val="solid"/>
          </a:ln>
        </p:spPr>
      </p:sp>
      <p:sp>
        <p:nvSpPr>
          <p:cNvPr id="62" name="Text 50"/>
          <p:cNvSpPr/>
          <p:nvPr/>
        </p:nvSpPr>
        <p:spPr>
          <a:xfrm>
            <a:off x="4158000" y="4950000"/>
            <a:ext cx="1584000" cy="2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map</a:t>
            </a:r>
            <a:endParaRPr lang="en-US" sz="1100" dirty="0"/>
          </a:p>
        </p:txBody>
      </p:sp>
      <p:sp>
        <p:nvSpPr>
          <p:cNvPr id="63" name="Shape 51"/>
          <p:cNvSpPr/>
          <p:nvPr/>
        </p:nvSpPr>
        <p:spPr>
          <a:xfrm>
            <a:off x="5760000" y="4986000"/>
            <a:ext cx="144000" cy="144000"/>
          </a:xfrm>
          <a:prstGeom prst="roundRect">
            <a:avLst>
              <a:gd name="adj" fmla="val 12700"/>
            </a:avLst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64" name="Text 52"/>
          <p:cNvSpPr/>
          <p:nvPr/>
        </p:nvSpPr>
        <p:spPr>
          <a:xfrm>
            <a:off x="5958000" y="4950000"/>
            <a:ext cx="1584000" cy="2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robot execution</a:t>
            </a:r>
            <a:endParaRPr lang="en-US" sz="1100" dirty="0"/>
          </a:p>
        </p:txBody>
      </p:sp>
      <p:sp>
        <p:nvSpPr>
          <p:cNvPr id="65" name="Shape 53"/>
          <p:cNvSpPr/>
          <p:nvPr/>
        </p:nvSpPr>
        <p:spPr>
          <a:xfrm>
            <a:off x="7740000" y="4986000"/>
            <a:ext cx="144000" cy="144000"/>
          </a:xfrm>
          <a:prstGeom prst="roundRect">
            <a:avLst>
              <a:gd name="adj" fmla="val 12700"/>
            </a:avLst>
          </a:prstGeom>
          <a:solidFill>
            <a:srgbClr val="7C3AED"/>
          </a:solidFill>
          <a:ln w="6350">
            <a:solidFill>
              <a:srgbClr val="7C3AED"/>
            </a:solidFill>
            <a:prstDash val="solid"/>
          </a:ln>
        </p:spPr>
      </p:sp>
      <p:sp>
        <p:nvSpPr>
          <p:cNvPr id="66" name="Text 54"/>
          <p:cNvSpPr/>
          <p:nvPr/>
        </p:nvSpPr>
        <p:spPr>
          <a:xfrm>
            <a:off x="7938000" y="4950000"/>
            <a:ext cx="1584000" cy="2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surveyed tag</a:t>
            </a:r>
            <a:endParaRPr lang="en-US" sz="1100" dirty="0"/>
          </a:p>
        </p:txBody>
      </p:sp>
      <p:sp>
        <p:nvSpPr>
          <p:cNvPr id="67" name="Shape 55"/>
          <p:cNvSpPr/>
          <p:nvPr/>
        </p:nvSpPr>
        <p:spPr>
          <a:xfrm>
            <a:off x="9540000" y="4986000"/>
            <a:ext cx="144000" cy="144000"/>
          </a:xfrm>
          <a:prstGeom prst="roundRect">
            <a:avLst>
              <a:gd name="adj" fmla="val 12700"/>
            </a:avLst>
          </a:prstGeom>
          <a:solidFill>
            <a:srgbClr val="F3F4F6"/>
          </a:solidFill>
          <a:ln w="12700">
            <a:solidFill>
              <a:srgbClr val="9CA3AF"/>
            </a:solidFill>
            <a:prstDash val="dash"/>
          </a:ln>
        </p:spPr>
      </p:sp>
      <p:sp>
        <p:nvSpPr>
          <p:cNvPr id="68" name="Text 56"/>
          <p:cNvSpPr/>
          <p:nvPr/>
        </p:nvSpPr>
        <p:spPr>
          <a:xfrm>
            <a:off x="9738000" y="4939200"/>
            <a:ext cx="3096000" cy="25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= image placeholder — replace with real asset, then delete this legend item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2026-08-24T08:30:29Z</dcterms:created>
  <dcterms:modified xsi:type="dcterms:W3CDTF">2026-08-24T08:30:29Z</dcterms:modified>
</cp:coreProperties>
</file>